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Anomaly Detection for Anti-Money Laundering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0">
                <a:solidFill>
                  <a:srgbClr val="BBCCDD"/>
                </a:solidFill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99AABB"/>
                </a:solidFill>
              </a:rPr>
              <a:t>Internal Research Note  —  January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8899AA"/>
                </a:solidFill>
              </a:rPr>
              <a:t>Survey of ML/DL methods for AML anomaly detection (2020–2026)
Graph-based • Deep Learning • Traditional ML • Contextual AD • LLMs •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1.  Graph and Network-Based Approaches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2.  Deep Learning (Non-Graph)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3.  Traditional ML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4.  Contextual Anomaly Detection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5.  Large-Scale Entity Resolution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6.  Feature Engineering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7.  Datasets and Evaluation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8.  Emerging Paradigms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9.  Decision Framework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10. Industry Adoption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11. Supervised Learning with STR-Labeled Data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12. Complex Behavior Detection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2A4A"/>
                </a:solidFill>
              </a:rPr>
              <a:t>13. FINTRAC Regulatory Alignment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1. Graph and Network-Based Approaches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097280"/>
                <a:gridCol w="13716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 (illicit)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Elliptic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Node features only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GCN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Elliptic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0.52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+graph structure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Elliptic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Attention-based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GraphSAGE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Elliptic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0.54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Inductive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EvolveGCN-H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Elliptic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+temporal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CARE-GNN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YelpChi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Anti-camouflage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PC-GNN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YelpChi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Imbalanced learning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1. Graph Methods (cont.): Key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C5F8A"/>
                </a:solidFill>
              </a:rPr>
              <a:t>Self-Supervised &amp; Heterogeneous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Self-supervised GNNs</a:t>
            </a:r>
            <a:r>
              <a:rPr sz="1500">
                <a:solidFill>
                  <a:srgbClr val="333333"/>
                </a:solidFill>
              </a:rPr>
              <a:t> — contrastive pre-training on unlabeled transaction graphs, then fine-tune on limited AML labels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LaundroGraph (ECML-PKDD 2022):</a:t>
            </a:r>
            <a:r>
              <a:rPr sz="1500">
                <a:solidFill>
                  <a:srgbClr val="333333"/>
                </a:solidFill>
              </a:rPr>
              <a:t> Graph self-supervised features + XGBoost downstream; F1 +5–10%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Heterogeneous graphs:</a:t>
            </a:r>
            <a:r>
              <a:rPr sz="1500">
                <a:solidFill>
                  <a:srgbClr val="333333"/>
                </a:solidFill>
              </a:rPr>
              <a:t> Nodes = accounts, merchants, devices; edges = transfers, logins, calls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xFraud (eBay, 2022):</a:t>
            </a:r>
            <a:r>
              <a:rPr sz="1500">
                <a:solidFill>
                  <a:srgbClr val="333333"/>
                </a:solidFill>
              </a:rPr>
              <a:t> Heterogeneous GNN on billions of transactions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C5F8A"/>
                </a:solidFill>
              </a:rPr>
              <a:t>Temporal &amp; Subgraph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EvolveGCN:</a:t>
            </a:r>
            <a:r>
              <a:rPr sz="1500">
                <a:solidFill>
                  <a:srgbClr val="333333"/>
                </a:solidFill>
              </a:rPr>
              <a:t> GNN weights evolve via RNN across time steps; captures laundering pattern shifts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TGN (Rossi et al., 2020):</a:t>
            </a:r>
            <a:r>
              <a:rPr sz="1500">
                <a:solidFill>
                  <a:srgbClr val="333333"/>
                </a:solidFill>
              </a:rPr>
              <a:t> Memory-augmented temporal graph; per-node memory for real-time updates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FlowScope (KDD 2020):</a:t>
            </a:r>
            <a:r>
              <a:rPr sz="1500">
                <a:solidFill>
                  <a:srgbClr val="333333"/>
                </a:solidFill>
              </a:rPr>
              <a:t> Dense subgraph detection for scatter-gather laundering; orders of magnitude faster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GARG-AML (2025):</a:t>
            </a:r>
            <a:r>
              <a:rPr sz="1500">
                <a:solidFill>
                  <a:srgbClr val="333333"/>
                </a:solidFill>
              </a:rPr>
              <a:t> Scalable smurfing detection; outperforms SOTA on large-scale networks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SMoTeF (2024):</a:t>
            </a:r>
            <a:r>
              <a:rPr sz="1500">
                <a:solidFill>
                  <a:srgbClr val="333333"/>
                </a:solidFill>
              </a:rPr>
              <a:t> Smurf detection on 180M+ transactions, 31M accounts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2. Deep Learning (Non-Graph)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C5F8A"/>
                </a:solidFill>
              </a:rPr>
              <a:t>Sequence Models &amp; Transformers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LSTM/GRU:</a:t>
            </a:r>
            <a:r>
              <a:rPr sz="1500">
                <a:solidFill>
                  <a:srgbClr val="333333"/>
                </a:solidFill>
              </a:rPr>
              <a:t> Natural for transaction sequences; GRU often preferred (fewer params, AUC &gt; 0.7)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Attention-enhanced LSTM:</a:t>
            </a:r>
            <a:r>
              <a:rPr sz="1500">
                <a:solidFill>
                  <a:srgbClr val="333333"/>
                </a:solidFill>
              </a:rPr>
              <a:t> Focuses on most suspicious subsequences (Niu et al., 2021)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Transformer-BDI (2024):</a:t>
            </a:r>
            <a:r>
              <a:rPr sz="1500">
                <a:solidFill>
                  <a:srgbClr val="333333"/>
                </a:solidFill>
              </a:rPr>
              <a:t> F1 92.87%, AUC 96.73% with distributed knowledge distillation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TREASURE (KDD 2026):</a:t>
            </a:r>
            <a:r>
              <a:rPr sz="1500">
                <a:solidFill>
                  <a:srgbClr val="333333"/>
                </a:solidFill>
              </a:rPr>
              <a:t> Transformer foundation model for high-volume transaction understanding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TransactionGPT (2025):</a:t>
            </a:r>
            <a:r>
              <a:rPr sz="1500">
                <a:solidFill>
                  <a:srgbClr val="333333"/>
                </a:solidFill>
              </a:rPr>
              <a:t> GPT-style pretraining on payment data for behavioral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C5F8A"/>
                </a:solidFill>
              </a:rPr>
              <a:t>Autoencoders &amp; GANs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Autoencoders:</a:t>
            </a:r>
            <a:r>
              <a:rPr sz="1500">
                <a:solidFill>
                  <a:srgbClr val="333333"/>
                </a:solidFill>
              </a:rPr>
              <a:t> Trained on normal transactions; high reconstruction error = anomaly. AUC ~0.85–0.90 on CC fraud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CWAE &gt; CVAE:</a:t>
            </a:r>
            <a:r>
              <a:rPr sz="1500">
                <a:solidFill>
                  <a:srgbClr val="333333"/>
                </a:solidFill>
              </a:rPr>
              <a:t> Deterministic encoder avoids numerical instability on skewed financial data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LVAESC-SFD (2026):</a:t>
            </a:r>
            <a:r>
              <a:rPr sz="1500">
                <a:solidFill>
                  <a:srgbClr val="333333"/>
                </a:solidFill>
              </a:rPr>
              <a:t> Correlation-based feature selection + VAE, 98.24% accuracy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WGAN for augmentation:</a:t>
            </a:r>
            <a:r>
              <a:rPr sz="1500">
                <a:solidFill>
                  <a:srgbClr val="333333"/>
                </a:solidFill>
              </a:rPr>
              <a:t> Synthetic fraudulent transactions improve F1 by 10–15%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CTGAN, Copula GAN, TVAE:</a:t>
            </a:r>
            <a:r>
              <a:rPr sz="1500">
                <a:solidFill>
                  <a:srgbClr val="333333"/>
                </a:solidFill>
              </a:rPr>
              <a:t> 96–99% utility equivalence to production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2.5 LLMs and Foundation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Three modes:</a:t>
            </a:r>
            <a:r>
              <a:rPr sz="1500">
                <a:solidFill>
                  <a:srgbClr val="333333"/>
                </a:solidFill>
              </a:rPr>
              <a:t> (1) feature encoders for downstream classifiers, (2) in-context learners via prompting, (3) investigation assistants for analyst workflows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FLAG (KDD 2025):</a:t>
            </a:r>
            <a:r>
              <a:rPr sz="1500">
                <a:solidFill>
                  <a:srgbClr val="333333"/>
                </a:solidFill>
              </a:rPr>
              <a:t> LLM-generated semantic node features fused with GNN graph embeddings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GuARD (KDD 2025):</a:t>
            </a:r>
            <a:r>
              <a:rPr sz="1500">
                <a:solidFill>
                  <a:srgbClr val="333333"/>
                </a:solidFill>
              </a:rPr>
              <a:t> Joint encoding of free-text + graph topology; captures signals tabular features miss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DGP (AAAI 2026):</a:t>
            </a:r>
            <a:r>
              <a:rPr sz="1500">
                <a:solidFill>
                  <a:srgbClr val="333333"/>
                </a:solidFill>
              </a:rPr>
              <a:t> Dual-granularity prompting — transaction-level + subgraph-level; natural-language explanations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FinGPT (IJCAI 2023):</a:t>
            </a:r>
            <a:r>
              <a:rPr sz="1500">
                <a:solidFill>
                  <a:srgbClr val="333333"/>
                </a:solidFill>
              </a:rPr>
              <a:t> Open-source financial LLM; fine-tunable for fraud/risk; AML fine-tuning underexplored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Limitations:</a:t>
            </a:r>
            <a:r>
              <a:rPr sz="1500">
                <a:solidFill>
                  <a:srgbClr val="333333"/>
                </a:solidFill>
              </a:rPr>
              <a:t> Expensive at TM scale (millions txns/day), hallucination-prone on numerical reasoning, lack precision of specialized tabular models. Strongest near-term role: post-detection investigation &amp; explanation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2.5 LLMs: In-Context Learning &amp; RAG for 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Pirmorad (2025, AI4FCF-ICDM, arXiv:2507.14785):</a:t>
            </a:r>
            <a:r>
              <a:rPr sz="1400">
                <a:solidFill>
                  <a:srgbClr val="333333"/>
                </a:solidFill>
              </a:rPr>
              <a:t> "Exploring the In-Context Learning Capabilities of LLMs for Money Laundering Detection in Financial Graphs." Retrieves k-hop neighborhoods from financial knowledge graph, serializes to text, few-shot ICL. First ICL work for AML. Produces analyst-style natural-language justifications.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FinFRE-RAG (Tan et al., 2025):</a:t>
            </a:r>
            <a:r>
              <a:rPr sz="1400">
                <a:solidFill>
                  <a:srgbClr val="333333"/>
                </a:solidFill>
              </a:rPr>
              <a:t> Importance-guided feature reduction + RAG with label-aware exemplars. LLMs approach specialized classifier accuracy while providing NL explanations.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Regulatory Graphs + GenAI (Khanvilkar &amp; Kommuru, 2025):</a:t>
            </a:r>
            <a:r>
              <a:rPr sz="1400">
                <a:solidFill>
                  <a:srgbClr val="333333"/>
                </a:solidFill>
              </a:rPr>
              <a:t> GNN classification + FAISS-based RAG. Flagged transactions queried against regulatory clauses; GPT-4 generates compliance explanations. F1 98.2% on simulated data.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FAA Framework (Shuster et al., 2025):</a:t>
            </a:r>
            <a:r>
              <a:rPr sz="1400">
                <a:solidFill>
                  <a:srgbClr val="333333"/>
                </a:solidFill>
              </a:rPr>
              <a:t> Multi-modal LLM Fraud Analyst Assistant. Tested on 500 real fraud cases, ~7 investigative steps per case. Template for AML investigation automation.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LLM embeddings for non-semantic data (Bakumenko et al., 2024, IEEE Access):</a:t>
            </a:r>
            <a:r>
              <a:rPr sz="1400">
                <a:solidFill>
                  <a:srgbClr val="333333"/>
                </a:solidFill>
              </a:rPr>
              <a:t> Sentence-transformers encode categorical financial data (account codes, cost centers) into embeddings. Useful signal even without NL semantics.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3. Traditional ML: Gradient Boosting &amp; Unsupervised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  <a:gridCol w="52120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Typical AUC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Advantage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0.95–0.99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Best overall tabular; built-in feature importance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0.95–0.98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Fastest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3–5× faster; high-cardinality categoricals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CatBoost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0.95–0.98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Native categoricals; ordered boosting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Stacking Ensemble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0.96–0.99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Slowest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Best combined performance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0.78–0.85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 labels needed; scalable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Extended 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+1–2%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Better on correlated features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LOF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0.72–0.80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Local anomalies; doesn't scale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One-Class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0.70–0.80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Only needs normal class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0.70–0.85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Interpretable; misses nonlinear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3.3 Hybrid Rule + ML — Industry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Pure ML replacement of rules is rare</a:t>
            </a:r>
            <a:r>
              <a:rPr sz="1600">
                <a:solidFill>
                  <a:srgbClr val="333333"/>
                </a:solidFill>
              </a:rPr>
              <a:t> due to regulatory requirements for explainable triggers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</a:rPr>
              <a:t>Three-tier FRAML architecture (2023):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  1. Hard rules</a:t>
            </a:r>
            <a:r>
              <a:rPr sz="1600">
                <a:solidFill>
                  <a:srgbClr val="333333"/>
                </a:solidFill>
              </a:rPr>
              <a:t> for regulatory compliance (e.g., CTR thresholds)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  2. Soft rules</a:t>
            </a:r>
            <a:r>
              <a:rPr sz="1600">
                <a:solidFill>
                  <a:srgbClr val="333333"/>
                </a:solidFill>
              </a:rPr>
              <a:t> for known typologies (e.g., structuring patterns)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  3. ML</a:t>
            </a:r>
            <a:r>
              <a:rPr sz="1600">
                <a:solidFill>
                  <a:srgbClr val="333333"/>
                </a:solidFill>
              </a:rPr>
              <a:t> for emerging/novel patterns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Rocha-Salazar et al. (2021):</a:t>
            </a:r>
            <a:r>
              <a:rPr sz="1600">
                <a:solidFill>
                  <a:srgbClr val="333333"/>
                </a:solidFill>
              </a:rPr>
              <a:t> Rules generate alerts; RF re-scores. Alert volume −70%; SAR precision from 2% → 15%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Soltani Delgosha &amp; Hajiheydari (2021):</a:t>
            </a:r>
            <a:r>
              <a:rPr sz="1600">
                <a:solidFill>
                  <a:srgbClr val="333333"/>
                </a:solidFill>
              </a:rPr>
              <a:t> Staged rule+ML: −40% false positives while maintaining recall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Key insight:</a:t>
            </a:r>
            <a:r>
              <a:rPr sz="1600">
                <a:solidFill>
                  <a:srgbClr val="333333"/>
                </a:solidFill>
              </a:rPr>
              <a:t> Rules for audit trail, ML for ranking and prioritization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4. Contextual Anomaly Detection — Taxonomy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2976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Peer-normalized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Normalize features by peer group stats, then apply standard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Peer Z-score + IF, Bolton &amp; Hand (2001)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Hard contextual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Partition by discrete context, fit separate models per group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Segment-level IF, per-group thresholds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Soft contextual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Model P(y|c) directly with continuous context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CAD, ROCOD, QCAD, CWAE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Learned contextual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Auto-discover which features are context vs. behavioral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ConQuest, CWAE bilevel optimization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Uncertainty-aware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Calibrated confidence on anomaly scores given context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GP-based contextual AD (2025)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4.2 Deep Contextual Methods: CWAE vs. Alternatives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188720"/>
                <a:gridCol w="164592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 AUC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Avg Rank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Key Insight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CWAE (King et al., 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Contextual deep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Best contextual; deterministic encoder; MMD loss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WAE (non-contextual)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0.760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4.25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Global deep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Baseline without context conditioning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0.745*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Contextual deep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Numerical instability on skewed financial data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CMDN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0.756*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Contextual deep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+7.47% over non-contextual; harder to train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CADI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0.734*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Contextual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+4.18% improvement; more interpretable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RCA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0.769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3.38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Global deep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Strong global baseline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Global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Deep Isolation Forest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4.4 When Does Context Help?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Anomaly Type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 Detector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$10M single transfer (unusual for anyone)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Standard IF, XGBoost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Contextual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$50K wire from student account (normal for corp.)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Peer-normalized IF, CWAE, QCAD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Structural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Fan-out → fan-in chain (smurfing)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GNN, FlowScope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Temporal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Dormant account suddenly active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LSTM, TGN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66666"/>
                </a:solidFill>
              </a:rPr>
              <a:t>Key finding: Under context-mismatch contamination, contextual methods substantially outperform global methods (39.8% vs 20.8% precision at top-5%). Under global contamination, the advantage disappears.
Diagnostic heuristic: Low agreement between IF and peer-normalized IF at a given threshold indicates contextual structure in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5. Large-Scale Entity Resolution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286000"/>
                <a:gridCol w="52120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Feature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Splink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100M+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Spark, Athena, DuckDB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Probabilistic (Fellegi-Sunter); unsupervised; no training data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Zingg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100M+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Spark, Snowflake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ML-based blocking + matching; active learning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Senzing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Billions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In-memory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Real-time ER; entity-centric; used by banks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Ditto (BERT)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PyTorch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+29% F1 over prior SOTA; serialize pairs as text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GPT-4 (zero-shot)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+40–68% on unseen entity types; no training data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5F8A"/>
                </a:solidFill>
              </a:rPr>
              <a:t>Emerging 100M+ architecture: </a:t>
            </a:r>
            <a:r>
              <a:rPr sz="1500">
                <a:solidFill>
                  <a:srgbClr val="333333"/>
                </a:solidFill>
              </a:rPr>
              <a:t>SentenceBERT embedding → ANN blocking (FAISS/HNSW) → Probabilistic matching (Splink) → LLM for uncertain pairs → Graph consolidation (Neo4j)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6. Feature Engineering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38404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Txn count/amount in 1h, 6h, 24h, 7d, 30d; unique counterparties; frequency 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AUC +5–8%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Behavioral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Amount ratio to hist. mean; Z-score; new merchant/country; dormancy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Most important category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Network/Graph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Degree; PageRank; fan-in/fan-out; cycle detection; community membership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F1 +7% even w/o GNNs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Aggregation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Per-customer stats; per-merchant fraud rate; per-country-pair amounts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Foundation for behavioral deviation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Day of week; hour; weekend/holiday; days since account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Laundering timing patterns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Risk Indicators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FATF country risk; PEP flag; industry risk; historical SAR count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Contextual conditioning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7. Key Datasets and Evaluation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645920"/>
                <a:gridCol w="137160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Imbalance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Elliptic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Real BTC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203K txns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Most-used benchmark; 49 timesteps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Elliptic++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Real BTC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204K+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+address-level graph; subgraph labels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AMLSim (IBM)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Configurable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Config.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Open-source; controllable patterns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PaySim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Synthetic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6.3M txns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0.13%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Mobile money; network structure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IBM AML Synth.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180M+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Config.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Large-scale multi-bank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IEEE-CIS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Real CC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590K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Kaggle competition; rich features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5F8A"/>
                </a:solidFill>
              </a:rPr>
              <a:t>Key metrics: </a:t>
            </a:r>
            <a:r>
              <a:rPr sz="1500">
                <a:solidFill>
                  <a:srgbClr val="333333"/>
                </a:solidFill>
              </a:rPr>
              <a:t>AUC alone is insufficient. Use F1 (illicit), Precision@top-k, alert-level precision (rules ~2% vs hybrid ML ~15%), FP reduction (consistently 40–60% over rules), PSI for drift monitoring.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8. Emerging Paradigms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C5F8A"/>
                </a:solidFill>
              </a:rPr>
              <a:t>Federated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FAML:</a:t>
            </a:r>
            <a:r>
              <a:rPr sz="1500">
                <a:solidFill>
                  <a:srgbClr val="333333"/>
                </a:solidFill>
              </a:rPr>
              <a:t> Multi-bank collaborative training without data sharing; up to 30% higher accuracy vs. isolated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FedGraph-VASP (2026):</a:t>
            </a:r>
            <a:r>
              <a:rPr sz="1500">
                <a:solidFill>
                  <a:srgbClr val="333333"/>
                </a:solidFill>
              </a:rPr>
              <a:t> Federated graph learning + post-quantum crypto for cross-institutional AML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FHE + GNNs:</a:t>
            </a:r>
            <a:r>
              <a:rPr sz="1500">
                <a:solidFill>
                  <a:srgbClr val="333333"/>
                </a:solidFill>
              </a:rPr>
              <a:t> Fully homomorphic encryption for privacy-preserving graph ML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Key driver:</a:t>
            </a:r>
            <a:r>
              <a:rPr sz="1500">
                <a:solidFill>
                  <a:srgbClr val="333333"/>
                </a:solidFill>
              </a:rPr>
              <a:t> Laundering spans institutions but banks can't share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C5F8A"/>
                </a:solidFill>
              </a:rPr>
              <a:t>Explainability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SHAP/TreeSHAP:</a:t>
            </a:r>
            <a:r>
              <a:rPr sz="1500">
                <a:solidFill>
                  <a:srgbClr val="333333"/>
                </a:solidFill>
              </a:rPr>
              <a:t> Widely used but unstable with correlated features. Use alongside domain expertise, not as replacement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LIME:</a:t>
            </a:r>
            <a:r>
              <a:rPr sz="1500">
                <a:solidFill>
                  <a:srgbClr val="333333"/>
                </a:solidFill>
              </a:rPr>
              <a:t> Alternative for local explanations; less stable on correlated tabular data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SEFraud (KDD 2024):</a:t>
            </a:r>
            <a:r>
              <a:rPr sz="1500">
                <a:solidFill>
                  <a:srgbClr val="333333"/>
                </a:solidFill>
              </a:rPr>
              <a:t> Self-explainable fraud via interpretative mask learning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Counterfactual explanations:</a:t>
            </a:r>
            <a:r>
              <a:rPr sz="1500">
                <a:solidFill>
                  <a:srgbClr val="333333"/>
                </a:solidFill>
              </a:rPr>
              <a:t> "This alert would not have fired if..." — demanded by regulators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Global surrogates:</a:t>
            </a:r>
            <a:r>
              <a:rPr sz="1500">
                <a:solidFill>
                  <a:srgbClr val="333333"/>
                </a:solidFill>
              </a:rPr>
              <a:t> Decision trees/GAMs approximating black-box for regulatory documentation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8.3 Agentic AI for 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Definition:</a:t>
            </a:r>
            <a:r>
              <a:rPr sz="1400">
                <a:solidFill>
                  <a:srgbClr val="333333"/>
                </a:solidFill>
              </a:rPr>
              <a:t> Autonomous systems that plan, execute, and adapt multi-step compliance workflows; orchestrate retrieval, reasoning, and tool use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Nasdaq Verafin:</a:t>
            </a:r>
            <a:r>
              <a:rPr sz="1400">
                <a:solidFill>
                  <a:srgbClr val="333333"/>
                </a:solidFill>
              </a:rPr>
              <a:t> Agentic AI Workforce — up to 50% AML workload automation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Axelsen et al. (2025, HICSS-59):</a:t>
            </a:r>
            <a:r>
              <a:rPr sz="1400">
                <a:solidFill>
                  <a:srgbClr val="333333"/>
                </a:solidFill>
              </a:rPr>
              <a:t> End-to-end agentic AML architecture developed with regulators. Artifact-centric modeling, task-specific model routing, audit logging. Most complete reference design.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Okpala et al. (2025):</a:t>
            </a:r>
            <a:r>
              <a:rPr sz="1400">
                <a:solidFill>
                  <a:srgbClr val="333333"/>
                </a:solidFill>
              </a:rPr>
              <a:t> Multi-agent "crews" with judge agent — modeling crew + model risk management crew. Relevant to AML model governance under OSFI E-23.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Kurshan et al. (2025):</a:t>
            </a:r>
            <a:r>
              <a:rPr sz="1400">
                <a:solidFill>
                  <a:srgbClr val="333333"/>
                </a:solidFill>
              </a:rPr>
              <a:t> "The Agentic Regulator" — four-layer governance: self-regulation, firm-level, regulator-hosted, independent audit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Pandey (2025):</a:t>
            </a:r>
            <a:r>
              <a:rPr sz="1400">
                <a:solidFill>
                  <a:srgbClr val="333333"/>
                </a:solidFill>
              </a:rPr>
              <a:t> LangChain + RAG over FinCEN/OFAC for compliance assistance with source citation traceability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333333"/>
                </a:solidFill>
              </a:rPr>
              <a:t>Open challenges:</a:t>
            </a:r>
            <a:r>
              <a:rPr sz="1400">
                <a:solidFill>
                  <a:srgbClr val="333333"/>
                </a:solidFill>
              </a:rPr>
              <a:t> Compounding errors, audit difficulty, regulatory accountability uncertainty. Human-in-the-loop remains essential for high-stakes decisions.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9. Decision Framework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56692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Labels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Approach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Tabular, labeled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Tabular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XGBoost/LightGBM + post-hoc explanations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Tabular, no labels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Tabular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Isolation Forest + two-stage pipeline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Graph, labeled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GraphSAGE/GAT + temporal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Graph, no labels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Network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GAE or self-supervised GNN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Multi-institution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Federated learning (FAML)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Stream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Any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TGN / streaming GNN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Regulatory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Hybrid rule+ML + explainability layer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Few labels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Any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Few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Self-supervised + fine-tuning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10. Industry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C5F8A"/>
                </a:solidFill>
              </a:rPr>
              <a:t>Deployments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HSBC:</a:t>
            </a:r>
            <a:r>
              <a:rPr sz="1500">
                <a:solidFill>
                  <a:srgbClr val="333333"/>
                </a:solidFill>
              </a:rPr>
              <a:t> Dynamic Risk Assessment (ML+KYC), 60% alert reduction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Ant Group:</a:t>
            </a:r>
            <a:r>
              <a:rPr sz="1500">
                <a:solidFill>
                  <a:srgbClr val="333333"/>
                </a:solidFill>
              </a:rPr>
              <a:t> Heterogeneous GNN on billions of nodes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eBay:</a:t>
            </a:r>
            <a:r>
              <a:rPr sz="1500">
                <a:solidFill>
                  <a:srgbClr val="333333"/>
                </a:solidFill>
              </a:rPr>
              <a:t> xFraud (Het-GNN) on billions of transactions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PayPal:</a:t>
            </a:r>
            <a:r>
              <a:rPr sz="1500">
                <a:solidFill>
                  <a:srgbClr val="333333"/>
                </a:solidFill>
              </a:rPr>
              <a:t> GNN + streaming for real-time detection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Nasdaq Verafin:</a:t>
            </a:r>
            <a:r>
              <a:rPr sz="1500">
                <a:solidFill>
                  <a:srgbClr val="333333"/>
                </a:solidFill>
              </a:rPr>
              <a:t> Agentic AI for banking AML (2025)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Elliptic:</a:t>
            </a:r>
            <a:r>
              <a:rPr sz="1500">
                <a:solidFill>
                  <a:srgbClr val="333333"/>
                </a:solidFill>
              </a:rPr>
              <a:t> AI on 200M Bitcoin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C5F8A"/>
                </a:solidFill>
              </a:rPr>
              <a:t>SAS/KPMG/ACAMS 2025 Survey (850 members)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18%</a:t>
            </a:r>
            <a:r>
              <a:rPr sz="1500">
                <a:solidFill>
                  <a:srgbClr val="333333"/>
                </a:solidFill>
              </a:rPr>
              <a:t> have AI/ML in production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18%</a:t>
            </a:r>
            <a:r>
              <a:rPr sz="1500">
                <a:solidFill>
                  <a:srgbClr val="333333"/>
                </a:solidFill>
              </a:rPr>
              <a:t> piloting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25%</a:t>
            </a:r>
            <a:r>
              <a:rPr sz="1500">
                <a:solidFill>
                  <a:srgbClr val="333333"/>
                </a:solidFill>
              </a:rPr>
              <a:t> plan in 12–18 months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40%</a:t>
            </a:r>
            <a:r>
              <a:rPr sz="1500">
                <a:solidFill>
                  <a:srgbClr val="333333"/>
                </a:solidFill>
              </a:rPr>
              <a:t> no plans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Top priority:</a:t>
            </a:r>
            <a:r>
              <a:rPr sz="1500">
                <a:solidFill>
                  <a:srgbClr val="333333"/>
                </a:solidFill>
              </a:rPr>
              <a:t> FP reduction (38%)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ML is top tech choice</a:t>
            </a:r>
            <a:r>
              <a:rPr sz="1500">
                <a:solidFill>
                  <a:srgbClr val="333333"/>
                </a:solidFill>
              </a:rPr>
              <a:t> (58%)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333333"/>
                </a:solidFill>
              </a:rPr>
              <a:t>Top barrier:</a:t>
            </a:r>
            <a:r>
              <a:rPr sz="1500">
                <a:solidFill>
                  <a:srgbClr val="333333"/>
                </a:solidFill>
              </a:rPr>
              <a:t> Lack of regulatory imperative (37%)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11. Supervised Learning with STR-Labeled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XGBoost on tabular AML features:</a:t>
            </a:r>
            <a:r>
              <a:rPr sz="1500">
                <a:solidFill>
                  <a:srgbClr val="333333"/>
                </a:solidFill>
              </a:rPr>
              <a:t> AUROC 0.961 on production-scale labeled data (Jullum et al., 2020; DNB Bank)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False positive reduction:</a:t>
            </a:r>
            <a:r>
              <a:rPr sz="1500">
                <a:solidFill>
                  <a:srgbClr val="333333"/>
                </a:solidFill>
              </a:rPr>
              <a:t> 60–80% FP reduction over rule-based systems while maintaining/improving recall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Deloitte/SAS (2024):</a:t>
            </a:r>
            <a:r>
              <a:rPr sz="1500">
                <a:solidFill>
                  <a:srgbClr val="333333"/>
                </a:solidFill>
              </a:rPr>
              <a:t> 60% FP reduction with supervised ML overlay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Guidehouse (2023):</a:t>
            </a:r>
            <a:r>
              <a:rPr sz="1500">
                <a:solidFill>
                  <a:srgbClr val="333333"/>
                </a:solidFill>
              </a:rPr>
              <a:t> 70% alert volume reduction, no loss in STR filing rate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FinCEN (June 2024):</a:t>
            </a:r>
            <a:r>
              <a:rPr sz="1500">
                <a:solidFill>
                  <a:srgbClr val="333333"/>
                </a:solidFill>
              </a:rPr>
              <a:t> Explicitly endorses ML for "greater precision" and "reducing false positives"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Two-stage pipeline:</a:t>
            </a:r>
            <a:r>
              <a:rPr sz="1500">
                <a:solidFill>
                  <a:srgbClr val="333333"/>
                </a:solidFill>
              </a:rPr>
              <a:t> (1) Unsupervised anomaly scores as features → (2) Supervised classifier. Most common production architecture.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PU Learning:</a:t>
            </a:r>
            <a:r>
              <a:rPr sz="1500">
                <a:solidFill>
                  <a:srgbClr val="333333"/>
                </a:solidFill>
              </a:rPr>
              <a:t> Treats non-STR transactions as unlabeled (not negative). Appropriate given unknown-positives problem.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Label quality is the #1 risk:</a:t>
            </a:r>
            <a:r>
              <a:rPr sz="1500">
                <a:solidFill>
                  <a:srgbClr val="333333"/>
                </a:solidFill>
              </a:rPr>
              <a:t> STR filing decisions vary by analyst. Consensus/adjudicated labels improve training signal.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12. Complex Behavior Detection by Typology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56692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Typology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Best Approach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Reference</a:t>
                      </a:r>
                    </a:p>
                  </a:txBody>
                  <a:tcPr>
                    <a:solidFill>
                      <a:srgbClr val="2C5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Structuring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Temporal aggregation + 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XGBoost with rolling-window features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Smurfing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Subgraph mining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GARG-AML (2025); SMoTeF: temporal-constrained flow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Layering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Multi-hop GNN / path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FlowScope (AAAI 2020): dense subgraph on flow networks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Mule networks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Community detection + fan patterns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Heterogeneous GNN with role-aware embeddings</a:t>
                      </a:r>
                    </a:p>
                  </a:txBody>
                  <a:tcPr>
                    <a:solidFill>
                      <a:srgbClr val="E8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TBML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Price anomaly + cross-dataset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Trade price deviation models + customs data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C5F8A"/>
                </a:solidFill>
              </a:rPr>
              <a:t>Multi-typology models: </a:t>
            </a:r>
            <a:r>
              <a:rPr sz="1500">
                <a:solidFill>
                  <a:srgbClr val="333333"/>
                </a:solidFill>
              </a:rPr>
              <a:t>Multi-label XGBoost/LightGBM with typology codes  |  Hybrid LSTM-GraphSAGE (95.4% accuracy)  |  Hierarchical: unsupervised → typology classifier → case-level aggregation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13. FINTRAC Regulatory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Efficacy mandate (2025):</a:t>
            </a:r>
            <a:r>
              <a:rPr sz="1500">
                <a:solidFill>
                  <a:srgbClr val="333333"/>
                </a:solidFill>
              </a:rPr>
              <a:t> New violation for programs not "reasonably designed, risk-based and effective." Shifts from checkbox compliance to demonstrable detection capability.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Enforcement escalation:</a:t>
            </a:r>
            <a:r>
              <a:rPr sz="1500">
                <a:solidFill>
                  <a:srgbClr val="333333"/>
                </a:solidFill>
              </a:rPr>
              <a:t> 20 AMPs in 2025, exceeding $200M total — largest in FINTRAC history. Inadequate transaction monitoring is primary target.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FinCEN endorsement of ML (June 2024):</a:t>
            </a:r>
            <a:r>
              <a:rPr sz="1500">
                <a:solidFill>
                  <a:srgbClr val="333333"/>
                </a:solidFill>
              </a:rPr>
              <a:t> Proposed rule explicitly endorses AI/ML for "greater precision in assessing customer risk" and "reducing false positives." Canadian regulators expected to follow.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OSFI E-23 Model Risk Management (effective May 2027):</a:t>
            </a:r>
            <a:r>
              <a:rPr sz="1500">
                <a:solidFill>
                  <a:srgbClr val="333333"/>
                </a:solidFill>
              </a:rPr>
              <a:t> Will require model validation, ongoing monitoring, and documentation for all models in risk management — including AML.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333333"/>
                </a:solidFill>
              </a:rPr>
              <a:t>Explainability requirement:</a:t>
            </a:r>
            <a:r>
              <a:rPr sz="1500">
                <a:solidFill>
                  <a:srgbClr val="333333"/>
                </a:solidFill>
              </a:rPr>
              <a:t> Both FINTRAC and OSFI require "understandable" automated decisions. Post-hoc methods (SHAP, LIME, surrogates) can help but no single method is universally sufficient.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</a:rPr>
              <a:t>1. Feature engineering matters more than model choice on tabular data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</a:rPr>
              <a:t>2. XGBoost/LightGBM dominate tabular AML (AUC 0.95–0.99); supervised learning should be the core when STR labels are available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</a:rPr>
              <a:t>3. Graph features add value even without GNNs: +7% F1 from simple degree, PageRank, fan-in/fan-out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</a:rPr>
              <a:t>4. Hybrid rule+ML is the industry standard; pure ML replacement of rules is rare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</a:rPr>
              <a:t>5. Contextual AD (CWAE, peer-normalized IF) directly addresses the false positive problem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</a:rPr>
              <a:t>6. Two-stage unsupervised → supervised pipeline is the safest starting architecture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</a:rPr>
              <a:t>7. LLMs strongest in post-detection investigation and explanation, not primary detection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</a:rPr>
              <a:t>8. Agentic AI is the newest frontier: 50% workload automation potential, but human oversight essential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</a:rPr>
              <a:t>9. Only 18% of institutions have fully deployed AI/ML for AML — significant opportunity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</a:rPr>
              <a:t>10. FINTRAC/OSFI regulatory pressure is increasing; explainability is non-negotiable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