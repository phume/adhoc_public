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8C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8C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Fermi Estimation:
Illicit Actors Banking at
Scotiabank Dominican Republic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59A2C"/>
                </a:solidFill>
                <a:latin typeface="Calibri"/>
              </a:rPr>
              <a:t>STR Volume Calibration &amp; AML Model Performance Targets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2F2"/>
                </a:solidFill>
                <a:latin typeface="Calibri"/>
              </a:rPr>
              <a:t>February 2026  |  Internal Calibration Exercise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Calibri"/>
              </a:rPr>
              <a:t>CONFIDENTIAL —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Internal Use Only  |  Fermi Estimation  |  2026-02-24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751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Calibri"/>
              </a:rPr>
              <a:t>Four key numbers from bottom-up Fermi estimation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2560320" cy="2926080"/>
          </a:xfrm>
          <a:prstGeom prst="rect">
            <a:avLst/>
          </a:prstGeom>
          <a:solidFill>
            <a:srgbClr val="F2F2F2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560320" cy="54864"/>
          </a:xfrm>
          <a:prstGeom prst="rect">
            <a:avLst/>
          </a:prstGeom>
          <a:solidFill>
            <a:srgbClr val="8C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8C1D2F"/>
                </a:solidFill>
                <a:latin typeface="Calibri"/>
              </a:rPr>
              <a:t>~1,250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Calibri"/>
              </a:rPr>
              <a:t>Estimated illicit actors
at Scotiabank DR (mid)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Calibri"/>
              </a:rPr>
              <a:t>0.25% of 500K clients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828800"/>
            <a:ext cx="2560320" cy="2926080"/>
          </a:xfrm>
          <a:prstGeom prst="rect">
            <a:avLst/>
          </a:prstGeom>
          <a:solidFill>
            <a:srgbClr val="F2F2F2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828800"/>
            <a:ext cx="2560320" cy="54864"/>
          </a:xfrm>
          <a:prstGeom prst="rect">
            <a:avLst/>
          </a:prstGeom>
          <a:solidFill>
            <a:srgbClr val="8C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21031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8C1D2F"/>
                </a:solidFill>
                <a:latin typeface="Calibri"/>
              </a:rPr>
              <a:t>~450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9260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Calibri"/>
              </a:rPr>
              <a:t>Detectable by AML
systems (mid)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4023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Calibri"/>
              </a:rPr>
              <a:t>Priority 1-6 categories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828800"/>
            <a:ext cx="2560320" cy="2926080"/>
          </a:xfrm>
          <a:prstGeom prst="rect">
            <a:avLst/>
          </a:prstGeom>
          <a:solidFill>
            <a:srgbClr val="F2F2F2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828800"/>
            <a:ext cx="2560320" cy="54864"/>
          </a:xfrm>
          <a:prstGeom prst="rect">
            <a:avLst/>
          </a:prstGeom>
          <a:solidFill>
            <a:srgbClr val="8C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1031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8C1D2F"/>
                </a:solidFill>
                <a:latin typeface="Calibri"/>
              </a:rPr>
              <a:t>0.09%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260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Calibri"/>
              </a:rPr>
              <a:t>Base rate
(detectable illicit)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023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Calibri"/>
              </a:rPr>
              <a:t>1 in 1,100 clients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828800"/>
            <a:ext cx="2560320" cy="2926080"/>
          </a:xfrm>
          <a:prstGeom prst="rect">
            <a:avLst/>
          </a:prstGeom>
          <a:solidFill>
            <a:srgbClr val="F2F2F2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828800"/>
            <a:ext cx="2560320" cy="54864"/>
          </a:xfrm>
          <a:prstGeom prst="rect">
            <a:avLst/>
          </a:prstGeom>
          <a:solidFill>
            <a:srgbClr val="8C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21031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8C1D2F"/>
                </a:solidFill>
                <a:latin typeface="Calibri"/>
              </a:rPr>
              <a:t>250–400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9260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Calibri"/>
              </a:rPr>
              <a:t>STR target
(per year)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023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Calibri"/>
              </a:rPr>
              <a:t>~20–33 per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Calibri"/>
              </a:rPr>
              <a:t>Method: Bottom-up Fermi estimation with 26 explicit, traceable assumptions. Cross-validated against top-down UAF data, international benchmarks, and sanity checks.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Internal Use Only  |  Fermi Estimation  |  2026-02-24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751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Dominican Republic: Market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Calibri"/>
              </a:rPr>
              <a:t>Key macro indicators shaping the AML 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Population: 11.5M (8.4M adults 15+)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Banking penetration: 65% of adults (~5.5M banked)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~7.3M deposit accounts across 49 regulated entities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16–18 commercial banks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GDP: $124.3B (2024)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Shadow/informal economy: ~34% of GDP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Informal employment: 54.7%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Remittances: $10.76B/year (~30M transactions)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Cash-received remittances: &gt;75% (~$8B+)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10698480" cy="1097280"/>
          </a:xfrm>
          <a:prstGeom prst="rect">
            <a:avLst/>
          </a:prstGeom>
          <a:solidFill>
            <a:srgbClr val="F2F2F2"/>
          </a:solidFill>
          <a:ln w="19050">
            <a:solidFill>
              <a:srgbClr val="C59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C1D2F"/>
                </a:solidFill>
                <a:latin typeface="Calibri"/>
              </a:rPr>
              <a:t>Why this matters for AML: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8348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High informality + massive remittance corridor + cash-dominant economy = fertile ground for money laundering. The DR is a Tier 1 cocaine transit country (~120 tons/year through Hispaniola).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Internal Use Only  |  Fermi Estimation  |  2026-02-24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751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Scotiabank DR: Market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Calibri"/>
              </a:rPr>
              <a:t>4th largest bank by assets — mid-tier but significant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37360"/>
          <a:ext cx="105156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4572000"/>
              </a:tblGrid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Source / Basis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Assets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$2.77B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~4–7% of ~$68B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Market rank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4th largest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Behind BanReservas, Popular, BHD León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Retail clients (est.)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400K–600K (mid: 500K)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Proportional to market share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Market share of banked adults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~7–9%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500K / 5.5M banked adults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Branches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46–58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Scotiabank.do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SME clients (est.)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3,000–12,000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5–10% of registered MSMEs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</a:rPr>
              <a:t>Note: Client estimates are Fermi approximations. Scotiabank DR does not publicly disclose client counts. Estimates derived from asset share relative to BanReservas (3M+ clients, ~32% share) and Banco Popular (2M+ clients, ~20% share).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Internal Use Only  |  Fermi Estimation  |  2026-02-24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751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Illicit Actors in the Dominican Republic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Calibri"/>
              </a:rPr>
              <a:t>Bottom-up estimate by criminal category (total in country, not just banked)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101498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1097280"/>
                <a:gridCol w="1097280"/>
                <a:gridCol w="411480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Basis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DTOs (international)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1,550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4,600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8,200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Cocaine transit ~120 tons/yr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Street dealers (domestic)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15,000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45,000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90,000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Hundreds of 'puntos' per city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Fentanyl/heroin (US–DR nexus)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2,700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7,000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14,000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DEA: dominant NE US distributors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Money mules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900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3,300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8,600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US &amp; DR-side cells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Human trafficking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1,100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2,100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229 investigations (2023)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ML professionals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Lawyers, accountants, RE agents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Corrupt officials / PEPs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1,100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Military, police, customs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Calibri"/>
                        </a:rPr>
                        <a:t>Total (before dedup)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21,150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62,600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125,900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Calibri"/>
                        </a:rPr>
                        <a:t>Total (deduplicated ~30%)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~15,000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~44,000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~88,000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0.18%–1.05% of adults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Calibri"/>
              </a:rPr>
              <a:t>Street dealers dominate by count but are least likely to bank formally or generate detectable patterns. Money mules and ML professionals are highest priority for AML.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Internal Use Only  |  Fermi Estimation  |  2026-02-24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751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Banking Penetration 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Calibri"/>
              </a:rPr>
              <a:t>From total illicit actors to detectable clients at Scotiabank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59" y="1645920"/>
            <a:ext cx="1005840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79" y="178308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~44,000 total illicit actors in DR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59" y="2743200"/>
            <a:ext cx="7772400" cy="731520"/>
          </a:xfrm>
          <a:prstGeom prst="rect">
            <a:avLst/>
          </a:prstGeom>
          <a:solidFill>
            <a:srgbClr val="3A5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79" y="288036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~17,600 banked (40% banking penetration)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59" y="3840480"/>
            <a:ext cx="5029200" cy="731520"/>
          </a:xfrm>
          <a:prstGeom prst="rect">
            <a:avLst/>
          </a:prstGeom>
          <a:solidFill>
            <a:srgbClr val="8C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79" y="39776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~1,250 at Scotiabank (7% market share)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4937759"/>
            <a:ext cx="3200400" cy="731520"/>
          </a:xfrm>
          <a:prstGeom prst="rect">
            <a:avLst/>
          </a:prstGeom>
          <a:solidFill>
            <a:srgbClr val="A82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507491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~450 detectable by AML (36% detectability)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</a:rPr>
              <a:t>Banking rates vary by category:
• ML professionals: 95–100%
• Money mules: 95–100%
• Corrupt officials: 95–100%
• DTO leadership: 90–100%
• Street dealers: 15–50%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</a:rPr>
              <a:t>Mid-estimates shown. See appendix for Low/High ranges.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Internal Use Only  |  Fermi Estimation  |  2026-02-24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751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Detection Priority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Calibri"/>
              </a:rPr>
              <a:t>Not all illicit actors generate detectable transaction patterns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10241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1188720"/>
                <a:gridCol w="1371600"/>
                <a:gridCol w="475488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Count (Mid)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Detectability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 Detectable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Money mules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Very 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Rapid in/out flows, structuring, multiple remittances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ML professionals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Unusual patterns for stated occupation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DTOs (mid-level+)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Large cash deposits, business front anomalies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Corrupt officials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Medium-High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Wealth inconsistent with salary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Fentanyl network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Remittance patterns from 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Human trafficking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Cash businesses, cross-border flows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Street dealers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Small amounts, blend with informal economy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4572000"/>
            <a:ext cx="10698480" cy="1280160"/>
          </a:xfrm>
          <a:prstGeom prst="rect">
            <a:avLst/>
          </a:prstGeom>
          <a:solidFill>
            <a:srgbClr val="F2F2F2"/>
          </a:solidFill>
          <a:ln w="19050">
            <a:solidFill>
              <a:srgbClr val="8C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C1D2F"/>
                </a:solidFill>
                <a:latin typeface="Calibri"/>
              </a:rPr>
              <a:t>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 Priority 1–6 = ~450 detectable actors among ~500,000 clients
•  Base rate: 0.09% = 1 in 1,100 clients
•  Consistent with industry benchmark of 1:1,000 to 1:25,000 class imbalance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Internal Use Only  |  Fermi Estimation  |  2026-02-24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751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Expected STR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Calibri"/>
              </a:rPr>
              <a:t>Consolidated estimate from top-down and bottom-up approaches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C1D2F"/>
                </a:solidFill>
                <a:latin typeface="Calibri"/>
              </a:rPr>
              <a:t>Top-Down (National UAF 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UAF receives est. 2,000–5,000 ROS/year system-wide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49 regulated financial entities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Scotiabank share: ~5–8% of system STRs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Implied: ~100–400 STRs/year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C1D2F"/>
                </a:solidFill>
                <a:latin typeface="Calibri"/>
              </a:rPr>
              <a:t>Bottom-Up (Illicit Actor Count)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~450 detectable actors at Scotia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15% system recall → ~68 true positives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15x false positive multiplier → ~1,020 alerts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40% alert-to-STR conversion → ~408 STRs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3931920"/>
          <a:ext cx="9601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502920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STRs/Year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STRs/Month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~8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Conservative; current weak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Mid (Target)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250–400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~20–33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Improved detection with new system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800–1,200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~65–100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Aggressive; US-style filing posture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C1D2F"/>
                </a:solidFill>
                <a:latin typeface="Calibri"/>
              </a:rPr>
              <a:t>Recommended planning target: 250–400 STRs/year (~20–33/month)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Internal Use Only  |  Fermi Estimation  |  2026-02-24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751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Model Calibration Targets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Calibri"/>
              </a:rPr>
              <a:t>Recommended performance targets by maturity stage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102412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2286000"/>
                <a:gridCol w="2743200"/>
              </a:tblGrid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 1 Target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 2 Target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 3+ Aspirational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STRs filed/year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150–250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250–400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400–600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Recall (est.)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10–15%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20–30%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30–40%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Alert-to-STR (precision proxy)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3–5%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5–10%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10–15%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FPR (alert level)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&lt; 95%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&lt; 90%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&lt; 85%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Alerts/month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800–1,500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500–1,000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300–600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Investigations/month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30–60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40–80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50–100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999999"/>
                </a:solidFill>
                <a:latin typeface="Calibri"/>
              </a:rPr>
              <a:t>•  Year 1: Rule-based system launch — establish baseline, tune thresholds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999999"/>
                </a:solidFill>
                <a:latin typeface="Calibri"/>
              </a:rPr>
              <a:t>•  Year 2: ML model added — expect 2–4x improvement (per HSBC/Google case study)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999999"/>
                </a:solidFill>
                <a:latin typeface="Calibri"/>
              </a:rPr>
              <a:t>•  Year 3+: Mature ML — best-in-class for high-risk jurisdiction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999999"/>
                </a:solidFill>
                <a:latin typeface="Calibri"/>
              </a:rPr>
              <a:t>•  Recall is fundamentally unmeasurable in AML. Proxy metrics required.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Internal Use Only  |  Fermi Estimation  |  2026-02-24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751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The Base Rate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Calibri"/>
              </a:rPr>
              <a:t>Why AML detection is inherently difficult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459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8C1D2F"/>
                </a:solidFill>
                <a:latin typeface="Calibri"/>
              </a:rPr>
              <a:t>1 in 1,100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B2A4A"/>
                </a:solidFill>
                <a:latin typeface="Calibri"/>
              </a:rPr>
              <a:t>clients is a detectable illicit actor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28800" y="3200400"/>
          <a:ext cx="91440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5486400"/>
              </a:tblGrid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Calibri"/>
                        </a:rPr>
                        <a:t>Total retail clients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~500,000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Illicit actors (all, mid)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~1,250 (0.25% = 1 in 400)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Detectable illicit actors (mid)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~450 (0.09% = 1 in 1,100)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Industry benchmark range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0.004% – 0.3%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DR positioning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High end (expected for high-risk jurisdiction)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solidFill>
            <a:srgbClr val="F2F2F2"/>
          </a:solidFill>
          <a:ln w="19050">
            <a:solidFill>
              <a:srgbClr val="C59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Implication: Even a 1% false positive rate on 500K clients = 5,000 false alerts/year. Precision is as critical as recall. ML models must push FPR below 90% to be operationally viable.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Internal Use Only  |  Fermi Estimation  |  2026-02-24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751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Key Uncertainties &amp;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Calibri"/>
              </a:rPr>
              <a:t>Honest assessment of what could shift estimates by 2x+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C1D2F"/>
                </a:solidFill>
                <a:latin typeface="Calibri"/>
              </a:rPr>
              <a:t>High-Impact Uncertainties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Street dealer banking rate: If 50% bank (vs. 25% assumed), base rate doubles — but their transactions are small and hard to detect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Money mule count: Most operationally relevant category. If DR-side ecosystem is 5,000+ (vs. 1,000 mid), STR targets should increase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Scotiabank actual client count: 7% market share is a Fermi estimate. True count could be 350K–600K, shifting all per-client rates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UAF incoming STR volume: Not publicly disclosed. Our 2,000–5,000 estimate could be off by 2x either 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C1D2F"/>
                </a:solidFill>
                <a:latin typeface="Calibri"/>
              </a:rPr>
              <a:t>Known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•  Recall is unmeasurable: No bank knows how many illicit actors it misses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•  Category overlap: ~30% deduplication factor is a rough estimate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•  US-based actors: Fentanyl network is mostly US-based; only DR financial footprint matters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•  Temporal dynamics: Crime networks evolve; fentanyl involvement is rapidly increasing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Internal Use Only  |  Fermi Estimation  |  2026-02-24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751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Appendix: Key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Calibri"/>
              </a:rPr>
              <a:t>All 26 assumptions for full traceability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502920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1828800"/>
              </a:tblGrid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Assumption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DR population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11.5M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A2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Adult population (15+)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~8.4M (73.4%)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Banking penetration (adults)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65%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A4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Banked adults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~5.5M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Total deposit accounts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~7.3M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A6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Commercial banks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16–18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Regulated financial entities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A8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Scotiabank market share (assets)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4–7%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Scotiabank retail clients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400K–600K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A10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Scotiabank branches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46–58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Scotiabank share of banked adults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~7–9%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A12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DR GDP (2024)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$124.3B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Shadow economy (% GDP)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~34%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0" y="1554480"/>
          <a:ext cx="502920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1828800"/>
              </a:tblGrid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Assumption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Informal employment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54.7%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A15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Total remittances (2024)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$10.76B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Remittance transactions/year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~30M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A17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Cash-received remittances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&gt;75% (~$8B+)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Total MSMEs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~404,000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A19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Formally registered MSMEs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~59,800 (14.8%)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UAF reports produced/year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~520–530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A21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UAF reports to prosecutors/year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~32–55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Incoming ROS to UAF/year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2,000–5,000 (est.)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A23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Global ML detection rate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~1% of proceeds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Rule-based alert-to-SAR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1–5%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A25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ML-enhanced alert-to-SAR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5–15%</a:t>
                      </a:r>
                    </a:p>
                  </a:txBody>
                  <a:tcPr anchor="ctr">
                    <a:solidFill>
                      <a:srgbClr val="F4E4E7"/>
                    </a:solidFill>
                  </a:tcPr>
                </a:tc>
              </a:tr>
              <a:tr h="3200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Illicit actor bank distribution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1.0x (proportional)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Sources: World Bank, IMF FAS, BCRD, DEA, FATF, UNODC, UAF Memoria Institucional, HSBC/Google Cloud, PwC, US Trade.gov, TIP Report, Global OC Index. Full source list in result_20260224_STR_Estimation.md.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